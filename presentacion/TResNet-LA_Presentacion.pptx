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Épocas realmente entrenadas (antes del fix)</c:v>
                </c:pt>
              </c:strCache>
            </c:strRef>
          </c:tx>
          <c:spPr>
            <a:solidFill>
              <a:srgbClr val="B02A2A"/>
            </a:solidFill>
          </c:spPr>
          <c:cat>
            <c:strRef>
              <c:f>Sheet1!$A$2:$A$3</c:f>
              <c:strCache>
                <c:ptCount val="2"/>
                <c:pt idx="0">
                  <c:v>con_SE</c:v>
                </c:pt>
                <c:pt idx="1">
                  <c:v>sin_SE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</c:v>
                </c:pt>
                <c:pt idx="1">
                  <c:v>49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Parámetros (millones)</c:v>
                </c:pt>
              </c:strCache>
            </c:strRef>
          </c:tx>
          <c:spPr>
            <a:solidFill>
              <a:srgbClr val="B02A2A"/>
            </a:solidFill>
          </c:spPr>
          <c:cat>
            <c:strRef>
              <c:f>Sheet1!$A$2:$A$3</c:f>
              <c:strCache>
                <c:ptCount val="2"/>
                <c:pt idx="0">
                  <c:v>Código original</c:v>
                </c:pt>
                <c:pt idx="1">
                  <c:v>Nuestro (Tabla C1)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15.2</c:v>
                </c:pt>
                <c:pt idx="1">
                  <c:v>53.1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Muestras positivas (train.csv)</c:v>
                </c:pt>
              </c:strCache>
            </c:strRef>
          </c:tx>
          <c:spPr>
            <a:solidFill>
              <a:srgbClr val="D95926"/>
            </a:solidFill>
          </c:spPr>
          <c:cat>
            <c:strRef>
              <c:f>Sheet1!$A$2:$A$11</c:f>
              <c:strCache>
                <c:ptCount val="10"/>
                <c:pt idx="0">
                  <c:v>SPHSUR</c:v>
                </c:pt>
                <c:pt idx="1">
                  <c:v>BOABIS</c:v>
                </c:pt>
                <c:pt idx="2">
                  <c:v>LEPLAT</c:v>
                </c:pt>
                <c:pt idx="3">
                  <c:v>PHYALB</c:v>
                </c:pt>
                <c:pt idx="4">
                  <c:v>...</c:v>
                </c:pt>
                <c:pt idx="5">
                  <c:v>RHIORN</c:v>
                </c:pt>
                <c:pt idx="6">
                  <c:v>RHISCI</c:v>
                </c:pt>
                <c:pt idx="7">
                  <c:v>LEPFLA</c:v>
                </c:pt>
                <c:pt idx="8">
                  <c:v>SCIFUS</c:v>
                </c:pt>
                <c:pt idx="9">
                  <c:v>SCINAS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13258</c:v>
                </c:pt>
                <c:pt idx="1">
                  <c:v>9800</c:v>
                </c:pt>
                <c:pt idx="2">
                  <c:v>8100</c:v>
                </c:pt>
                <c:pt idx="3">
                  <c:v>6200</c:v>
                </c:pt>
                <c:pt idx="5">
                  <c:v>17</c:v>
                </c:pt>
                <c:pt idx="6">
                  <c:v>9</c:v>
                </c:pt>
                <c:pt idx="7">
                  <c:v>6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</c:v>
                </c:pt>
              </c:strCache>
            </c:strRef>
          </c:tx>
          <c:spPr>
            <a:solidFill>
              <a:srgbClr val="1B8A82"/>
            </a:solidFill>
          </c:spPr>
          <c:cat>
            <c:strRef>
              <c:f>Sheet1!$A$2:$A$11</c:f>
              <c:strCache>
                <c:ptCount val="10"/>
                <c:pt idx="0">
                  <c:v>LA</c:v>
                </c:pt>
                <c:pt idx="1">
                  <c:v>L</c:v>
                </c:pt>
                <c:pt idx="2">
                  <c:v>LA+MSW</c:v>
                </c:pt>
                <c:pt idx="3">
                  <c:v>LA+UABOS</c:v>
                </c:pt>
                <c:pt idx="4">
                  <c:v>R50</c:v>
                </c:pt>
                <c:pt idx="5">
                  <c:v>R50-A</c:v>
                </c:pt>
                <c:pt idx="6">
                  <c:v>TM</c:v>
                </c:pt>
                <c:pt idx="7">
                  <c:v>TMA</c:v>
                </c:pt>
                <c:pt idx="8">
                  <c:v>L+MSW</c:v>
                </c:pt>
                <c:pt idx="9">
                  <c:v>L+UABOS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97.15</c:v>
                </c:pt>
                <c:pt idx="1">
                  <c:v>97.08</c:v>
                </c:pt>
                <c:pt idx="2">
                  <c:v>96.53</c:v>
                </c:pt>
                <c:pt idx="3">
                  <c:v>96.21</c:v>
                </c:pt>
                <c:pt idx="4">
                  <c:v>96.62</c:v>
                </c:pt>
                <c:pt idx="5">
                  <c:v>96.55</c:v>
                </c:pt>
                <c:pt idx="6">
                  <c:v>96.61</c:v>
                </c:pt>
                <c:pt idx="7">
                  <c:v>96.5</c:v>
                </c:pt>
                <c:pt idx="8">
                  <c:v>96.68</c:v>
                </c:pt>
                <c:pt idx="9">
                  <c:v>96.4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 global_acc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TResNet-L→LA</c:v>
                </c:pt>
                <c:pt idx="1">
                  <c:v>ResNet50→-A</c:v>
                </c:pt>
                <c:pt idx="2">
                  <c:v>TResNet-M→-MA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</c:v>
                </c:pt>
                <c:pt idx="1">
                  <c:v>-0.44</c:v>
                </c:pt>
                <c:pt idx="2">
                  <c:v>0.01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 F1</c:v>
                </c:pt>
              </c:strCache>
            </c:strRef>
          </c:tx>
          <c:spPr>
            <a:solidFill>
              <a:srgbClr val="D95926"/>
            </a:solidFill>
          </c:spPr>
          <c:cat>
            <c:strRef>
              <c:f>Sheet1!$A$2:$A$4</c:f>
              <c:strCache>
                <c:ptCount val="3"/>
                <c:pt idx="0">
                  <c:v>TResNet-L→LA</c:v>
                </c:pt>
                <c:pt idx="1">
                  <c:v>ResNet50→-A</c:v>
                </c:pt>
                <c:pt idx="2">
                  <c:v>TResNet-M→-MA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1.44</c:v>
                </c:pt>
                <c:pt idx="1">
                  <c:v>-0.07</c:v>
                </c:pt>
                <c:pt idx="2">
                  <c:v>-0.81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Δ mAP</c:v>
                </c:pt>
              </c:strCache>
            </c:strRef>
          </c:tx>
          <c:spPr>
            <a:solidFill>
              <a:srgbClr val="1B8A82"/>
            </a:solidFill>
          </c:spPr>
          <c:cat>
            <c:strRef>
              <c:f>Sheet1!$A$2:$A$4</c:f>
              <c:strCache>
                <c:ptCount val="3"/>
                <c:pt idx="0">
                  <c:v>TResNet-L→LA</c:v>
                </c:pt>
                <c:pt idx="1">
                  <c:v>ResNet50→-A</c:v>
                </c:pt>
                <c:pt idx="2">
                  <c:v>TResNet-M→-MA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0.07</c:v>
                </c:pt>
                <c:pt idx="1">
                  <c:v>-0.07</c:v>
                </c:pt>
                <c:pt idx="2">
                  <c:v>-0.11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TResNet-LA (F1)</c:v>
                </c:pt>
              </c:strCache>
            </c:strRef>
          </c:tx>
          <c:spPr>
            <a:solidFill>
              <a:srgbClr val="1B8A82"/>
            </a:solidFill>
          </c:spPr>
          <c:cat>
            <c:strRef>
              <c:f>Sheet1!$A$2:$A$4</c:f>
              <c:strCache>
                <c:ptCount val="3"/>
                <c:pt idx="0">
                  <c:v>sin resample</c:v>
                </c:pt>
                <c:pt idx="1">
                  <c:v>+MSW</c:v>
                </c:pt>
                <c:pt idx="2">
                  <c:v>+UABOS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87.34</c:v>
                </c:pt>
                <c:pt idx="1">
                  <c:v>86.79</c:v>
                </c:pt>
                <c:pt idx="2">
                  <c:v>86.1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TResNet-L (F1)</c:v>
                </c:pt>
              </c:strCache>
            </c:strRef>
          </c:tx>
          <c:spPr>
            <a:solidFill>
              <a:srgbClr val="D95926"/>
            </a:solidFill>
          </c:spPr>
          <c:cat>
            <c:strRef>
              <c:f>Sheet1!$A$2:$A$4</c:f>
              <c:strCache>
                <c:ptCount val="3"/>
                <c:pt idx="0">
                  <c:v>sin resample</c:v>
                </c:pt>
                <c:pt idx="1">
                  <c:v>+MSW</c:v>
                </c:pt>
                <c:pt idx="2">
                  <c:v>+UABOS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85.9</c:v>
                </c:pt>
                <c:pt idx="1">
                  <c:v>88.83</c:v>
                </c:pt>
                <c:pt idx="2">
                  <c:v>85.42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exact-match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-20</c:v>
                </c:pt>
                <c:pt idx="1">
                  <c:v>-10</c:v>
                </c:pt>
                <c:pt idx="2">
                  <c:v>-5</c:v>
                </c:pt>
                <c:pt idx="3">
                  <c:v>0</c:v>
                </c:pt>
                <c:pt idx="4">
                  <c:v>5</c:v>
                </c:pt>
                <c:pt idx="5">
                  <c:v>10</c:v>
                </c:pt>
                <c:pt idx="6">
                  <c:v>20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</c:v>
                </c:pt>
                <c:pt idx="1">
                  <c:v>1.7</c:v>
                </c:pt>
                <c:pt idx="2">
                  <c:v>8.9</c:v>
                </c:pt>
                <c:pt idx="3">
                  <c:v>11.7</c:v>
                </c:pt>
                <c:pt idx="4">
                  <c:v>24.4</c:v>
                </c:pt>
                <c:pt idx="5">
                  <c:v>22.8</c:v>
                </c:pt>
                <c:pt idx="6">
                  <c:v>32.8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micro-F1</c:v>
                </c:pt>
              </c:strCache>
            </c:strRef>
          </c:tx>
          <c:spPr>
            <a:solidFill>
              <a:srgbClr val="D95926"/>
            </a:solidFill>
          </c:spPr>
          <c:cat>
            <c:strRef>
              <c:f>Sheet1!$A$2:$A$8</c:f>
              <c:strCache>
                <c:ptCount val="7"/>
                <c:pt idx="0">
                  <c:v>-20</c:v>
                </c:pt>
                <c:pt idx="1">
                  <c:v>-10</c:v>
                </c:pt>
                <c:pt idx="2">
                  <c:v>-5</c:v>
                </c:pt>
                <c:pt idx="3">
                  <c:v>0</c:v>
                </c:pt>
                <c:pt idx="4">
                  <c:v>5</c:v>
                </c:pt>
                <c:pt idx="5">
                  <c:v>10</c:v>
                </c:pt>
                <c:pt idx="6">
                  <c:v>20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</c:v>
                </c:pt>
                <c:pt idx="1">
                  <c:v>4.7</c:v>
                </c:pt>
                <c:pt idx="2">
                  <c:v>15.2</c:v>
                </c:pt>
                <c:pt idx="3">
                  <c:v>26.5</c:v>
                </c:pt>
                <c:pt idx="4">
                  <c:v>38.7</c:v>
                </c:pt>
                <c:pt idx="5">
                  <c:v>43.6</c:v>
                </c:pt>
                <c:pt idx="6">
                  <c:v>50.3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exact-match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k=1</c:v>
                </c:pt>
                <c:pt idx="1">
                  <c:v>k=2</c:v>
                </c:pt>
                <c:pt idx="2">
                  <c:v>k=3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40.7</c:v>
                </c:pt>
                <c:pt idx="1">
                  <c:v>3.1</c:v>
                </c:pt>
                <c:pt idx="2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micro-F1</c:v>
                </c:pt>
              </c:strCache>
            </c:strRef>
          </c:tx>
          <c:spPr>
            <a:solidFill>
              <a:srgbClr val="D95926"/>
            </a:solidFill>
          </c:spPr>
          <c:cat>
            <c:strRef>
              <c:f>Sheet1!$A$2:$A$4</c:f>
              <c:strCache>
                <c:ptCount val="3"/>
                <c:pt idx="0">
                  <c:v>k=1</c:v>
                </c:pt>
                <c:pt idx="1">
                  <c:v>k=2</c:v>
                </c:pt>
                <c:pt idx="2">
                  <c:v>k=3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58.0</c:v>
                </c:pt>
                <c:pt idx="1">
                  <c:v>27.3</c:v>
                </c:pt>
                <c:pt idx="2">
                  <c:v>15.3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val_mAP (dominio conocido)</c:v>
                </c:pt>
              </c:strCache>
            </c:strRef>
          </c:tx>
          <c:spPr>
            <a:solidFill>
              <a:srgbClr val="1B8A82"/>
            </a:solidFill>
          </c:spPr>
          <c:cat>
            <c:strRef>
              <c:f>Sheet1!$A$2:$A$6</c:f>
              <c:strCache>
                <c:ptCount val="5"/>
                <c:pt idx="0">
                  <c:v>INCT20955</c:v>
                </c:pt>
                <c:pt idx="1">
                  <c:v>INCT4</c:v>
                </c:pt>
                <c:pt idx="2">
                  <c:v>INCT41</c:v>
                </c:pt>
                <c:pt idx="3">
                  <c:v>INCT17</c:v>
                </c:pt>
                <c:pt idx="4">
                  <c:v>Promedio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95.92</c:v>
                </c:pt>
                <c:pt idx="1">
                  <c:v>97.86</c:v>
                </c:pt>
                <c:pt idx="2">
                  <c:v>97.83</c:v>
                </c:pt>
                <c:pt idx="3">
                  <c:v>97.26</c:v>
                </c:pt>
                <c:pt idx="4">
                  <c:v>97.22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mAP (nunca visto)</c:v>
                </c:pt>
              </c:strCache>
            </c:strRef>
          </c:tx>
          <c:spPr>
            <a:solidFill>
              <a:srgbClr val="D95926"/>
            </a:solidFill>
          </c:spPr>
          <c:cat>
            <c:strRef>
              <c:f>Sheet1!$A$2:$A$6</c:f>
              <c:strCache>
                <c:ptCount val="5"/>
                <c:pt idx="0">
                  <c:v>INCT20955</c:v>
                </c:pt>
                <c:pt idx="1">
                  <c:v>INCT4</c:v>
                </c:pt>
                <c:pt idx="2">
                  <c:v>INCT41</c:v>
                </c:pt>
                <c:pt idx="3">
                  <c:v>INCT17</c:v>
                </c:pt>
                <c:pt idx="4">
                  <c:v>Promedio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26.92</c:v>
                </c:pt>
                <c:pt idx="1">
                  <c:v>8.91</c:v>
                </c:pt>
                <c:pt idx="2">
                  <c:v>15.32</c:v>
                </c:pt>
                <c:pt idx="3">
                  <c:v>18.66</c:v>
                </c:pt>
                <c:pt idx="4">
                  <c:v>17.45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F1 (nunca visto)</c:v>
                </c:pt>
              </c:strCache>
            </c:strRef>
          </c:tx>
          <c:spPr>
            <a:solidFill>
              <a:srgbClr val="B02A2A"/>
            </a:solidFill>
          </c:spPr>
          <c:cat>
            <c:strRef>
              <c:f>Sheet1!$A$2:$A$6</c:f>
              <c:strCache>
                <c:ptCount val="5"/>
                <c:pt idx="0">
                  <c:v>INCT20955</c:v>
                </c:pt>
                <c:pt idx="1">
                  <c:v>INCT4</c:v>
                </c:pt>
                <c:pt idx="2">
                  <c:v>INCT41</c:v>
                </c:pt>
                <c:pt idx="3">
                  <c:v>INCT17</c:v>
                </c:pt>
                <c:pt idx="4">
                  <c:v>Promedio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2.73</c:v>
                </c:pt>
                <c:pt idx="1">
                  <c:v>1.26</c:v>
                </c:pt>
                <c:pt idx="2">
                  <c:v>0.88</c:v>
                </c:pt>
                <c:pt idx="3">
                  <c:v>1.34</c:v>
                </c:pt>
                <c:pt idx="4">
                  <c:v>1.55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σ=0.5</c:v>
                </c:pt>
                <c:pt idx="1">
                  <c:v>σ=0.8 (paper)</c:v>
                </c:pt>
                <c:pt idx="2">
                  <c:v>σ=0.65 (óptimo)</c:v>
                </c:pt>
                <c:pt idx="3">
                  <c:v>óptimo/clase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74.5</c:v>
                </c:pt>
                <c:pt idx="1">
                  <c:v>87.3</c:v>
                </c:pt>
                <c:pt idx="2">
                  <c:v>87.7</c:v>
                </c:pt>
                <c:pt idx="3">
                  <c:v>90.9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78D6"/>
                </a:solidFill>
                <a:latin typeface="Calibri"/>
              </a:rPr>
              <a:t>LABORATORIO 1 —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A1E24"/>
                </a:solidFill>
                <a:latin typeface="Calibri"/>
              </a:rPr>
              <a:t>Adaptando TResNet-LA del sonar submarino
al canto de la selva amazónica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7A"/>
                </a:solidFill>
                <a:latin typeface="Calibri"/>
              </a:rPr>
              <a:t>Implementación y validación experimental del modelo de Chen et al. (2026) —diseñado para reconocer buques bajo interferencia acústica submarina— aplicado a la identificación multi-especie de 42 anuros amazónicos a partir de grabaciones de campo.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27A"/>
                </a:solidFill>
                <a:latin typeface="Calibri"/>
              </a:rPr>
              <a:t>PAPER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E24"/>
                </a:solidFill>
                <a:latin typeface="Calibri"/>
              </a:rPr>
              <a:t>Chen, Luo, Zhou et al. — ESWA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97763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27A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251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E24"/>
                </a:solidFill>
                <a:latin typeface="Calibri"/>
              </a:rPr>
              <a:t>INCT · 62 191 clips · 42 especies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977639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B727A"/>
                </a:solidFill>
                <a:latin typeface="Calibri"/>
              </a:rPr>
              <a:t>EXPERIMENTOS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2519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E24"/>
                </a:solidFill>
                <a:latin typeface="Calibri"/>
              </a:rPr>
              <a:t>10 arms · cross-site · MTD sintético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5029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A78D6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5532120"/>
            <a:ext cx="32369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E24"/>
                </a:solidFill>
                <a:latin typeface="Calibri"/>
              </a:rPr>
              <a:t>Metodología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852160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A"/>
                </a:solidFill>
                <a:latin typeface="Calibri"/>
              </a:rPr>
              <a:t>Slides 2-7 · el paper, la arquitectura, UABOS/MSW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892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5029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5926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5532120"/>
            <a:ext cx="32369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E24"/>
                </a:solidFill>
                <a:latin typeface="Calibri"/>
              </a:rPr>
              <a:t>Implementación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5852160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A"/>
                </a:solidFill>
                <a:latin typeface="Calibri"/>
              </a:rPr>
              <a:t>Slides 8-14 · adaptación, bugs corregidos,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892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1" y="5029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B8A82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1" y="5532120"/>
            <a:ext cx="32369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E24"/>
                </a:solidFill>
                <a:latin typeface="Calibri"/>
              </a:rPr>
              <a:t>Resultados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5852160"/>
            <a:ext cx="32369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A"/>
                </a:solidFill>
                <a:latin typeface="Calibri"/>
              </a:rPr>
              <a:t>Slides 15-20 · 10 arms, ablaciones, cross-site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METODOLOGÍA · 1/6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El problema: reconocer quién y cuántos, bajo interferencia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UAMTR — Underwater Acoustic Multi-Target Recognition (Chen et al.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630936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276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A78D6"/>
                </a:solidFill>
                <a:latin typeface="Calibri"/>
              </a:rPr>
              <a:t>PLANTEO DEL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5943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A2E34"/>
                </a:solidFill>
                <a:latin typeface="Calibri"/>
              </a:rPr>
              <a:t>La mayoría de trabajos en reconocimiento acústico submarino asume un solo blanco. En escenarios reales, varios buques emiten a la vez y hay señales de buques no-objetivo (interferencia) mezcladas. El paper reformula la tarea como clasificación multi-etiqueta: identificar tipo y cantidad de blancos presentes.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063240"/>
            <a:ext cx="59436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POR QUÉ REFORMULAR COMO MULTI-ETIQUETA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50" b="0" i="0">
                <a:solidFill>
                  <a:srgbClr val="2A2E34"/>
                </a:solidFill>
                <a:latin typeface="Calibri"/>
              </a:rPr>
              <a:t>Antes: un blanco por muestra → clasificación simple (softmax, 1 clase gana)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50" b="0" i="0">
                <a:solidFill>
                  <a:srgbClr val="2A2E34"/>
                </a:solidFill>
                <a:latin typeface="Calibri"/>
              </a:rPr>
              <a:t>Ahora: vector binario de L etiquetas → cada clase decide independiente (sigmoid)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50" b="0" i="0">
                <a:solidFill>
                  <a:srgbClr val="2A2E34"/>
                </a:solidFill>
                <a:latin typeface="Calibri"/>
              </a:rPr>
              <a:t>El desbalance positivo/negativo domina el gradiente en multi-label → exige Asymmetric Loss (slide 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6309360" cy="77724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892040"/>
            <a:ext cx="54864" cy="777240"/>
          </a:xfrm>
          <a:prstGeom prst="rect">
            <a:avLst/>
          </a:prstGeom>
          <a:solidFill>
            <a:srgbClr val="1B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965192"/>
            <a:ext cx="6016752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Nuestra adaptación: el dataset de anuros ya viene mezclado por la naturaleza (varias especies cantando a la vez) — problema estructuralmente idéntico, pasamos de 3 a 42 clases.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508760"/>
            <a:ext cx="4754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16276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A78D6"/>
                </a:solidFill>
                <a:latin typeface="Calibri"/>
              </a:rPr>
              <a:t>TIR — TARGET-TO-INTERFERENCE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965960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1E24"/>
                </a:solidFill>
                <a:latin typeface="Calibri"/>
              </a:rPr>
              <a:t>TIR = 20·log₁₀(rms_objetivo / rms_interferencia)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260604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00" b="0" i="0">
                <a:solidFill>
                  <a:srgbClr val="2A2E34"/>
                </a:solidFill>
                <a:latin typeface="Calibri"/>
              </a:rPr>
              <a:t>TIR bajo → señal del blanco enmascarada por interferencia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00" b="0" i="0">
                <a:solidFill>
                  <a:srgbClr val="2A2E34"/>
                </a:solidFill>
                <a:latin typeface="Calibri"/>
              </a:rPr>
              <a:t>TIR alto → señal del blanco clara, fácil de reconocer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00" b="0" i="0">
                <a:solidFill>
                  <a:srgbClr val="2A2E34"/>
                </a:solidFill>
                <a:latin typeface="Calibri"/>
              </a:rPr>
              <a:t>El paper mide el desempeño en función de este ratio (Sección 5.2)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416052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4160520"/>
            <a:ext cx="54864" cy="1371600"/>
          </a:xfrm>
          <a:prstGeom prst="rect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1" y="4233672"/>
            <a:ext cx="4462272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Nuestro dataset: sin TIR controlado (grabaciones ya mezcladas por la naturaleza) — se sintetiza un análogo TIR/MTD para el análisis (ver Resultados, slide 18).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METODOLOGÍA · 2/6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De la onda al mel-espectrograma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Sección 5.1 — representación de entrada del modelo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4481"/>
            <a:ext cx="16459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Audio .wav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81097"/>
            <a:ext cx="164592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A78D6"/>
                </a:solidFill>
                <a:latin typeface="Calibri"/>
              </a:rPr>
              <a:t>22 050 Hz, mono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2860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9152" y="16916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04872" y="2024481"/>
            <a:ext cx="16459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Ventana Hann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381097"/>
            <a:ext cx="164592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A78D6"/>
                </a:solidFill>
                <a:latin typeface="Calibri"/>
              </a:rPr>
              <a:t>1024 pts, hop 320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96512" y="22860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61104" y="16916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2024481"/>
            <a:ext cx="16459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STFT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2381097"/>
            <a:ext cx="164592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B8A82"/>
                </a:solidFill>
                <a:latin typeface="Calibri"/>
              </a:rPr>
              <a:t>espectro de potencia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8464" y="22860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63056" y="16916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2024481"/>
            <a:ext cx="16459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Filtros Mel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2381097"/>
            <a:ext cx="164592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B8A82"/>
                </a:solidFill>
                <a:latin typeface="Calibri"/>
              </a:rPr>
              <a:t>128 bandas, 0-11 025 Hz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0416" y="22860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65008" y="16916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2024481"/>
            <a:ext cx="16459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log(dB) + norm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2381097"/>
            <a:ext cx="164592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D95926"/>
                </a:solidFill>
                <a:latin typeface="Calibri"/>
              </a:rPr>
              <a:t>escala [0,1]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802368" y="22860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966960" y="16916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2024481"/>
            <a:ext cx="164592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Mel-spec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381097"/>
            <a:ext cx="164592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D95926"/>
                </a:solidFill>
                <a:latin typeface="Calibri"/>
              </a:rPr>
              <a:t>208×128×1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004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310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VENTANA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639312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Hanning 1024 pts, hop 320 — igual al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2004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310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BANDAS MEL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639312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128 filtros, fmax adaptado al Nyquist real (11 025 Hz, no 14 000)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200400"/>
            <a:ext cx="3657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33101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SALIDA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639312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208×128, normalizada [0,1] por muestra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463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54864" cy="914400"/>
          </a:xfrm>
          <a:prstGeom prst="rect">
            <a:avLst/>
          </a:prstGeom>
          <a:solidFill>
            <a:srgbClr val="1B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919472"/>
            <a:ext cx="10954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Desviación deliberada y documentada: sr=22050/fmax=11025 en vez de 32000/14000 del paper — usar los valores del paper sobre-muestrearía e implicaría ~15% de bandas Mel sin señal real (el dataset es 22.05 kHz nativo, no 52.7 kHz como ShipsEar).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METODOLOGÍA · 3/6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Arquitectura TResNet-LA — vista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TResNet-L + atención de canal final — Fig. 7, Tabla C1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Mel-spec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A78D6"/>
                </a:solidFill>
                <a:latin typeface="Calibri"/>
              </a:rPr>
              <a:t>208×128×1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048255"/>
            <a:ext cx="0" cy="128017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176272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76272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SpaceToDepth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23160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A78D6"/>
                </a:solidFill>
                <a:latin typeface="Calibri"/>
              </a:rPr>
              <a:t>125×32×16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2670048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2798063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98063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Basic ×4 (SE r4)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44951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B8A82"/>
                </a:solidFill>
                <a:latin typeface="Calibri"/>
              </a:rPr>
              <a:t>76ch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3291839"/>
            <a:ext cx="0" cy="128017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3419856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19856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Basic ×5 (SE r4)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66744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B8A82"/>
                </a:solidFill>
                <a:latin typeface="Calibri"/>
              </a:rPr>
              <a:t>152ch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4519" y="3913632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4041648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41648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Bottleneck ×18 (SE r8)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88536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B8A82"/>
                </a:solidFill>
                <a:latin typeface="Calibri"/>
              </a:rPr>
              <a:t>304→1216ch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874519" y="4535424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7200" y="4663440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63440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Bottleneck ×3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10327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A78D6"/>
                </a:solidFill>
                <a:latin typeface="Calibri"/>
              </a:rPr>
              <a:t>608→2432ch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74519" y="5157216"/>
            <a:ext cx="0" cy="128015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5285232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285232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SE final (r16)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32120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D95926"/>
                </a:solidFill>
                <a:latin typeface="Calibri"/>
              </a:rPr>
              <a:t>el "LA"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74519" y="5779008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5907024"/>
            <a:ext cx="2834640" cy="493775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907024"/>
            <a:ext cx="2743200" cy="271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GAP→FC→Sigmoid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153912"/>
            <a:ext cx="2743200" cy="222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A78D6"/>
                </a:solidFill>
                <a:latin typeface="Calibri"/>
              </a:rPr>
              <a:t>42 clases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566160" y="1554480"/>
          <a:ext cx="81381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1810"/>
                <a:gridCol w="2034540"/>
                <a:gridCol w="3051810"/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SpaceToDepth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125×32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block 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Stem Conv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125×32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1×1, 76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Basic ×4 (SE r=4)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125×32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76 canales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Basic ×5 (SE r=4)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63×16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152 canales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Bottleneck ×18 (SE r=8)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32×8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304→1216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Bottleneck ×3 (sin SE)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16×4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608→2432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SE final (r=16)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16×4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el "LA"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GAP→FC→Sigmoid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1×42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2A2E34"/>
                          </a:solidFill>
                          <a:latin typeface="Calibri"/>
                        </a:rPr>
                        <a:t>multi-label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METODOLOGÍA · 4/6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Dentro del bloque: dónde vive la atención de canal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Fig. 7 (subplots) y Fig. 8 — el SE se inserta después de la conv 3×3, antes de la expansión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108960" cy="866851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017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2421331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549347"/>
            <a:ext cx="3108960" cy="866851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49347"/>
            <a:ext cx="3017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Conv 3×3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3416198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544214"/>
            <a:ext cx="3108960" cy="866851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544214"/>
            <a:ext cx="3017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Conv 3×3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4411065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539081"/>
            <a:ext cx="3108960" cy="866851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539081"/>
            <a:ext cx="3017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SE (r=4)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5405932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5533948"/>
            <a:ext cx="3108960" cy="866851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533948"/>
            <a:ext cx="3017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+ identity → 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A78D6"/>
                </a:solidFill>
                <a:latin typeface="Calibri"/>
              </a:rPr>
              <a:t>BasicBlock (etapas 1-2)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1554480"/>
            <a:ext cx="3108960" cy="70104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1554480"/>
            <a:ext cx="3017520" cy="385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Input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49240" y="2255520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94760" y="2383536"/>
            <a:ext cx="3108960" cy="70104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383536"/>
            <a:ext cx="3017520" cy="385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Conv 1×1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349240" y="3084575"/>
            <a:ext cx="0" cy="128017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94760" y="3212592"/>
            <a:ext cx="3108960" cy="70104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212592"/>
            <a:ext cx="3017520" cy="385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Conv 3×3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49240" y="3913631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794760" y="4041648"/>
            <a:ext cx="3108960" cy="70104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4041648"/>
            <a:ext cx="3017520" cy="385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SE (r=8)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49240" y="4742688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94760" y="4870704"/>
            <a:ext cx="3108960" cy="70104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4870704"/>
            <a:ext cx="3017520" cy="385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Conv 1×1 (exp.×4)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49240" y="5571744"/>
            <a:ext cx="0" cy="128015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794760" y="5699760"/>
            <a:ext cx="3108960" cy="70104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5699760"/>
            <a:ext cx="3017520" cy="3855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+ identity → ReLU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4465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A78D6"/>
                </a:solidFill>
                <a:latin typeface="Calibri"/>
              </a:rPr>
              <a:t>Bottleneck (etapas 3-4)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23760" y="1554480"/>
            <a:ext cx="4480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88352" y="164592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BASICBLOCK (ETAPAS 1-2)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1965960"/>
            <a:ext cx="41605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2× conv 3×3 + SE r=4. Se usa donde la resolución espacial es más alta.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3172968"/>
            <a:ext cx="4480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88352" y="32644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BOTTLENECK (ETAPAS 3-4)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88352" y="3584448"/>
            <a:ext cx="41605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1×1 → 3×3 → SE r=8 → 1×1 (expansión ×4). Reduce el costo de la conv cara.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23760" y="4791456"/>
            <a:ext cx="44805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88352" y="4882896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SQUEEZE-EXCITE-SCALE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202936"/>
            <a:ext cx="41605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GAP → 2 FC → sigmoid → reescala canal a canal (Ec. 14-16).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METODOLOGÍA · 5/6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Asymmetric Loss y las 6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Ec. 14-23 — el desbalance es el hilo conductor del 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6420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SQUEEZE-AND-EXCITATION (EC. 14-16)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1168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E24"/>
                </a:solidFill>
                <a:latin typeface="Calibri"/>
              </a:rPr>
              <a:t>z = (1/WH)·Σ X(j,k)     F = σ(W₂·δ(W₁·z))     X̂ = F·X
(squeeze → excite → scale)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3101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ASYMMETRIC LOSS (γ_neg=6, γ_pos=0)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6576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A1E24"/>
                </a:solidFill>
                <a:latin typeface="Calibri"/>
              </a:rPr>
              <a:t>peso = (1−pₜ)^γ      γ = γ_pos·y + γ_neg·(1−y)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14800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Los negativos fáciles (mayoría en multi-label) se aplastan en el gradiente; los positivos no pierden peso.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53212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691640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6 MÉTRICAS (EC. 17-23)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50" b="0" i="0">
                <a:solidFill>
                  <a:srgbClr val="2A2E34"/>
                </a:solidFill>
                <a:latin typeface="Calibri"/>
              </a:rPr>
              <a:t>global_acc — exact match: acierta el vector completo (estricta)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50" b="0" i="0">
                <a:solidFill>
                  <a:srgbClr val="2A2E34"/>
                </a:solidFill>
                <a:latin typeface="Calibri"/>
              </a:rPr>
              <a:t>macro_acc / precision / recall / F1 — promedio por clase, todas pesan igual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▸ </a:t>
            </a:r>
            <a:r>
              <a:rPr sz="1150" b="0" i="0">
                <a:solidFill>
                  <a:srgbClr val="2A2E34"/>
                </a:solidFill>
                <a:latin typeface="Calibri"/>
              </a:rPr>
              <a:t>mAP — usa las probabilidades, independiente del umbral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971800"/>
            <a:ext cx="251460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03580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A78D6"/>
                </a:solidFill>
                <a:latin typeface="Calibri"/>
              </a:rPr>
              <a:t>SAMPLE-BASED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73552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A2E34"/>
                </a:solidFill>
                <a:latin typeface="Calibri"/>
              </a:rPr>
              <a:t>Compara el vector completo Yᵢ vs Zᵢ. Es global_acc.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97180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3035808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A78D6"/>
                </a:solidFill>
                <a:latin typeface="Calibri"/>
              </a:rPr>
              <a:t>LABEL-BASED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3273552"/>
            <a:ext cx="2377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A2E34"/>
                </a:solidFill>
                <a:latin typeface="Calibri"/>
              </a:rPr>
              <a:t>Evalúa cada especie y promedia: macro_acc, P, R, F1, 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977639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6792" y="3977639"/>
            <a:ext cx="54864" cy="914400"/>
          </a:xfrm>
          <a:prstGeom prst="rect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3" y="4050791"/>
            <a:ext cx="491947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Con 42 clases y 36% de clips vacíos, global_acc/macro_acc se inflan por verdaderos negativos — F1 y mAP son las métricas honestas.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METODOLOGÍA · 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Resampling: UABOS y MSW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Algoritmo 2, Ec. 11-13 — las dos estrategias del paper contra el desbalance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394960" cy="866851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03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Label-powerset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7905"/>
            <a:ext cx="5303520" cy="3900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A78D6"/>
                </a:solidFill>
                <a:latin typeface="Calibri"/>
              </a:rPr>
              <a:t>cada combinación de etiquetas = 1 clase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2421331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549347"/>
            <a:ext cx="5394960" cy="866851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49347"/>
            <a:ext cx="5303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PCA → t-SNE 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82772"/>
            <a:ext cx="5303520" cy="3900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B8A82"/>
                </a:solidFill>
                <a:latin typeface="Calibri"/>
              </a:rPr>
              <a:t>reducción dimensional (adaptación por escala)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3416198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544214"/>
            <a:ext cx="5394960" cy="866851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44214"/>
            <a:ext cx="5303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kNN borderline u_i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77640"/>
            <a:ext cx="5303520" cy="3900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B8A82"/>
                </a:solidFill>
                <a:latin typeface="Calibri"/>
              </a:rPr>
              <a:t>Ec. 11: fracción de vecinos con etiqueta distinta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4411065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7200" y="4539081"/>
            <a:ext cx="5394960" cy="866851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39081"/>
            <a:ext cx="5303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Clasificar safe/danger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72507"/>
            <a:ext cx="5303520" cy="3900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D95926"/>
                </a:solidFill>
                <a:latin typeface="Calibri"/>
              </a:rPr>
              <a:t>Ec. 12: dangerous si u_i≥0.5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5405932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5533948"/>
            <a:ext cx="5394960" cy="866851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33948"/>
            <a:ext cx="5303520" cy="476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Clonar n·p·γ_i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7374"/>
            <a:ext cx="5303520" cy="3900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D95926"/>
                </a:solidFill>
                <a:latin typeface="Calibri"/>
              </a:rPr>
              <a:t>Ec. 13: pondera el déficit de la clase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A78D6"/>
                </a:solidFill>
                <a:latin typeface="Calibri"/>
              </a:rPr>
              <a:t>UABOS — Underwater Acoustic Borderline Oversampling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554480"/>
            <a:ext cx="5394960" cy="1115568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554480"/>
            <a:ext cx="5303520" cy="6135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Contar muestras/clase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112264"/>
            <a:ext cx="5303520" cy="502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A78D6"/>
                </a:solidFill>
                <a:latin typeface="Calibri"/>
              </a:rPr>
              <a:t>sobre el training set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23960" y="2670048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26480" y="2798063"/>
            <a:ext cx="5394960" cy="1115568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798063"/>
            <a:ext cx="5303520" cy="6135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Clases bajo el promedio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355847"/>
            <a:ext cx="5303520" cy="502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B8A82"/>
                </a:solidFill>
                <a:latin typeface="Calibri"/>
              </a:rPr>
              <a:t>identificar sub-representadas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23960" y="3913631"/>
            <a:ext cx="0" cy="128016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26480" y="4041648"/>
            <a:ext cx="5394960" cy="1115568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041648"/>
            <a:ext cx="5303520" cy="6135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Peso de duplicación w_i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599432"/>
            <a:ext cx="5303520" cy="502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D95926"/>
                </a:solidFill>
                <a:latin typeface="Calibri"/>
              </a:rPr>
              <a:t>entero, por clase minoritaria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23960" y="5157216"/>
            <a:ext cx="0" cy="128015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126480" y="5285232"/>
            <a:ext cx="5394960" cy="1115568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285232"/>
            <a:ext cx="5303520" cy="6135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1E24"/>
                </a:solidFill>
                <a:latin typeface="Calibri"/>
              </a:rPr>
              <a:t>Duplicar muestras w_i veces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843016"/>
            <a:ext cx="5303520" cy="5020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D95926"/>
                </a:solidFill>
                <a:latin typeface="Calibri"/>
              </a:rPr>
              <a:t>nuestro: w_i=clip(round(N̄/N_i),2,8)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64465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A78D6"/>
                </a:solidFill>
                <a:latin typeface="Calibri"/>
              </a:rPr>
              <a:t>MSW — Minority Samples Weighted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1/7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Adaptación al dataset: cada decisión, justificada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ShipsEar (barcos, sintético) → INCT (anuros, grabaciones de campo reales)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1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060"/>
                <a:gridCol w="2166876"/>
                <a:gridCol w="2166876"/>
                <a:gridCol w="4643306"/>
              </a:tblGrid>
              <a:tr h="382385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Nuestro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Justificación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Clases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3 (barco)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42 (anuro)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requisito de la consigna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Sample rate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32 000 Hz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22 050 Hz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Nyquist real (nativo 22.05kHz); ShipsEar ~52.7kHz nativo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fmax Mel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14 000 Hz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11 025 Hz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= Nyquist; evita bandas Mel sin señal real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Duración del clip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5.0 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3.0 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duración real de los .wav del dataset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70/15/15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80/20, seed 42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requisito de la consigna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Umbral σ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confirmado en Apéndice B (pág. 19)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Optimizador / LR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AdamW, 1e-4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AdamW, 1e-4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igual al paper (Tabla C2)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Early stopping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no (80 épocas fijas)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no, en los 10 arms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comparación justa entre arms (bug #2, slide 10)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Métrica de checkpoint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no especifica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global_acc se infla con negativos (slide 6)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Stem Conv1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1×1 (Fig.1/Fig.7)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1×1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Tabla C1 texto decía 3×3 — inconsistente; resuelto con PDF-imagen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94360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43600"/>
            <a:ext cx="54864" cy="685800"/>
          </a:xfrm>
          <a:prstGeom prst="rect">
            <a:avLst/>
          </a:prstGeom>
          <a:solidFill>
            <a:srgbClr val="1B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10954512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Estructuralmente el problema es idéntico. Lo que cambia es el dominio y la escala del desbalance — mucho más extrema en 42 especies que en 3 tipos de barco.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2/7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Bug #1: la pérdida daba 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Precisión mixta (fp16) + logaritmo de una probabilidad casi-cero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F7DDDD"/>
          </a:solidFill>
          <a:ln w="9525">
            <a:solidFill>
              <a:srgbClr val="B0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91232"/>
            <a:ext cx="3547872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logits (fp16, autocast)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2" y="221742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61104" y="169164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F7DDDD"/>
          </a:solidFill>
          <a:ln w="9525">
            <a:solidFill>
              <a:srgbClr val="B0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2091232"/>
            <a:ext cx="3547872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sigmoid(logits) → p≈0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00416" y="221742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65008" y="169164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F7DDDD"/>
          </a:solidFill>
          <a:ln w="9525">
            <a:solidFill>
              <a:srgbClr val="B0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2091232"/>
            <a:ext cx="3547872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log(p) → −∞ / NaN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A2A"/>
                </a:solidFill>
                <a:latin typeface="Calibri"/>
              </a:rPr>
              <a:t>✗ sin fix → val_loss = NaN en todo el entrenamiento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DCF0E3"/>
          </a:solidFill>
          <a:ln w="9525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45712"/>
            <a:ext cx="3547872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logits.float() ANTES de sigmoid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96512" y="37719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61104" y="324612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DCF0E3"/>
          </a:solidFill>
          <a:ln w="9525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3645712"/>
            <a:ext cx="3547872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log(p) en fp32, precisión completa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0416" y="377190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65008" y="3246120"/>
            <a:ext cx="3639312" cy="1051560"/>
          </a:xfrm>
          <a:prstGeom prst="roundRect">
            <a:avLst>
              <a:gd name="adj" fmla="val 8000"/>
            </a:avLst>
          </a:prstGeom>
          <a:solidFill>
            <a:srgbClr val="DCF0E3"/>
          </a:solidFill>
          <a:ln w="9525"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8" y="3645712"/>
            <a:ext cx="3547872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loss finita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7A43"/>
                </a:solidFill>
                <a:latin typeface="Calibri"/>
              </a:rPr>
              <a:t>✓ con fix → val_loss = 0.14 (finito), verificado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CAUSA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492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Autocast usa fp16; log(p≈0) pierde precisión y diverge a NaN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493776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50292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492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logits = logits.float()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93776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50292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VERIFICADO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534924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A2E34"/>
                </a:solidFill>
                <a:latin typeface="Calibri"/>
              </a:rPr>
              <a:t>val_loss: NaN → 0.14 (finito)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3/7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Bug #2: la ablación comparaba épocas distintas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Early stopping cortaba a con_SE mucho antes que a sin_SE — invalidaba la comparación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11247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3484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553712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BUG #3 — SPECAUGMENT DUPLICADO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892040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A2E34"/>
                </a:solidFill>
                <a:latin typeface="Calibri"/>
              </a:rPr>
              <a:t>Workers del DataLoader sin seed propio de numpy → mismo aumento en paralelo. Fix: worker_init_fn + cudnn determinista.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34840"/>
            <a:ext cx="5532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4553712"/>
            <a:ext cx="5202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BUG #4 — CHECKPOINT SESGADO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4892040"/>
            <a:ext cx="52029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A2E34"/>
                </a:solidFill>
                <a:latin typeface="Calibri"/>
              </a:rPr>
              <a:t>Mejor modelo elegido por global_acc, inflado por negativos. Fix: selección por 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4/7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Fidelidad arquitectónica: de 15M a 53.1M parámetros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El modelo original tenía los bloques Bottleneck a media anchura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539496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72200" y="164592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73736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EL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205740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A2E34"/>
                </a:solidFill>
                <a:latin typeface="Calibri"/>
              </a:rPr>
              <a:t>Multiplicadores de ancho incorrectos (×2/×4 en vez de 1,2,4,8 de la Tabla C1) → ~15M parámetros, un TResNet-L “achicado”.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63240"/>
            <a:ext cx="5532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315468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CÓMO SE VERIFICÓ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47472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A2E34"/>
                </a:solidFill>
                <a:latin typeface="Calibri"/>
              </a:rPr>
              <a:t>pypdf rompe las matrices con corchetes de la Tabla C1 al extraer texto. Se instaló poppler-utils y se releyeron las 25 páginas como imágenes — confirmó anchos, posición del SE, y el stem 1×1.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457200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QUÉ NO CAMBIÓ (YA ESTABA BIEN)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B8A82"/>
                </a:solidFill>
                <a:latin typeface="Calibri"/>
              </a:rPr>
              <a:t>▸ </a:t>
            </a:r>
            <a:r>
              <a:rPr sz="1050" b="0" i="0">
                <a:solidFill>
                  <a:srgbClr val="2A2E34"/>
                </a:solidFill>
                <a:latin typeface="Calibri"/>
              </a:rPr>
              <a:t>Profundidad por etapa [4, 5, 18, 3] — correcta desde el original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B8A82"/>
                </a:solidFill>
                <a:latin typeface="Calibri"/>
              </a:rPr>
              <a:t>▸ </a:t>
            </a:r>
            <a:r>
              <a:rPr sz="1050" b="0" i="0">
                <a:solidFill>
                  <a:srgbClr val="2A2E34"/>
                </a:solidFill>
                <a:latin typeface="Calibri"/>
              </a:rPr>
              <a:t>Downsampling avgpool 2×2 stride 2 — coincide exacto con Tabla C1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B8A82"/>
                </a:solidFill>
                <a:latin typeface="Calibri"/>
              </a:rPr>
              <a:t>▸ </a:t>
            </a:r>
            <a:r>
              <a:rPr sz="1050" b="0" i="0">
                <a:solidFill>
                  <a:srgbClr val="2A2E34"/>
                </a:solidFill>
                <a:latin typeface="Calibri"/>
              </a:rPr>
              <a:t>Reducción SE r=4/8/16 por etapa — coincide con Fig. 7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1B8A82"/>
                </a:solidFill>
                <a:latin typeface="Calibri"/>
              </a:rPr>
              <a:t>▸ </a:t>
            </a:r>
            <a:r>
              <a:rPr sz="1050" b="0" i="0">
                <a:solidFill>
                  <a:srgbClr val="2A2E34"/>
                </a:solidFill>
                <a:latin typeface="Calibri"/>
              </a:rPr>
              <a:t>Solo la anchura de canales estaba mal — un solo parámetro, gran impacto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5/7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El desbalance real: de 13 258 a 0 muestras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42 especies, train.csv completo (62 191 clips) — motiva UABOS/MSW en Resultados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112471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98348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0749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7A"/>
                </a:solidFill>
                <a:latin typeface="Calibri"/>
              </a:rPr>
              <a:t>CLASES CON 0 POSITIVOS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924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B02A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06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A"/>
                </a:solidFill>
                <a:latin typeface="Calibri"/>
              </a:rPr>
              <a:t>SCIFUS, SCINAS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98348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50749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7A"/>
                </a:solidFill>
                <a:latin typeface="Calibri"/>
              </a:rPr>
              <a:t>CLIPS SIN NINGUNA ESPECIE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34924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D95926"/>
                </a:solidFill>
                <a:latin typeface="Calibri"/>
              </a:rPr>
              <a:t>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806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A"/>
                </a:solidFill>
                <a:latin typeface="Calibri"/>
              </a:rPr>
              <a:t>22 504 / 62 191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983480"/>
            <a:ext cx="36576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50749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7A"/>
                </a:solidFill>
                <a:latin typeface="Calibri"/>
              </a:rPr>
              <a:t>RATIO MÁX/MÍN (CON POSITIVOS)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534924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B02A2A"/>
                </a:solidFill>
                <a:latin typeface="Calibri"/>
              </a:rPr>
              <a:t>~1900:1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5806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7A"/>
                </a:solidFill>
                <a:latin typeface="Calibri"/>
              </a:rPr>
              <a:t>SPHSUR vs LEPFLA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6/7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6 módulos nuevos para cubrir lo que faltaba del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La primera versión no tenía resampling, baselines, ni análisis de generalización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649223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59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Archivo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Qué implementa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resampling.py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UABOS (t-SNE + kNN, Ec. 11-13) y MSW (peso por clase)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baselines.py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ResNet50, ResNet50-A, TResNet-M (3,4,11,3), TResNet-MA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experiments.py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orquestador: 10 arms, mismo split/seed, 80 épocas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cross_site.py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leave-one-site-out × 4 (análogo DeepShip, Ap. D)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mtd_synth.py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MTD sintético: mezcla clips a TIR controlado (análogo Alg. 1)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balance_metrics.py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A2E34"/>
                          </a:solidFill>
                          <a:latin typeface="Calibri"/>
                        </a:rPr>
                        <a:t>Ec. 1-10 (LCard, MeanIR, LP_MeanIR…) — Tabla 3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600200"/>
            <a:ext cx="4480560" cy="214884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691640"/>
            <a:ext cx="4206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D8DEE5"/>
                </a:solidFill>
                <a:latin typeface="Consolas"/>
              </a:rPr>
              <a:t># resampling.py — UABOS, Ec. 13
gamma_i = (N_bar - N_j) / (n_ds_j * sum_deficit)
n_clones = floor(sum_deficit * p * gamma)
# experiments.py — 10 arms
for arm in ARMS:
    set_seed(42)
    model = build(arm.use_se)
    train_model(..., epochs=80,
      ckpt_metric="mAP")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3931920"/>
            <a:ext cx="4480560" cy="2148840"/>
          </a:xfrm>
          <a:prstGeom prst="roundRect">
            <a:avLst>
              <a:gd name="adj" fmla="val 8000"/>
            </a:avLst>
          </a:prstGeom>
          <a:solidFill>
            <a:srgbClr val="1E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4023360"/>
            <a:ext cx="4206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D8DEE5"/>
                </a:solidFill>
                <a:latin typeface="Consolas"/>
              </a:rPr>
              <a:t># cross_site.py — leave-one-site-out
for held_out in SITES:
    train_df = df[sites != held_out]
    test_df  = df[sites == held_out]
    set_seed(42)
    model = build_model(use_se=True)
    train_model(model, train_df,
      epochs=80, ckpt_metric="mAP")
    evaluate(model, test_df)  # nunca visto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IMPLEMENTACIÓN · 7/7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El pipeline completo: 5 etapas, ~22.5 horas de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RTX PRO 4000 Blackwell · run_all.sh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117750" cy="100584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7555"/>
            <a:ext cx="202631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1. experiments.py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29307"/>
            <a:ext cx="2026310" cy="32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A78D6"/>
                </a:solidFill>
                <a:latin typeface="Calibri"/>
              </a:rPr>
              <a:t>10 arms, 80 ép.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4950" y="214884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39542" y="1645920"/>
            <a:ext cx="2117750" cy="100584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5262" y="1927555"/>
            <a:ext cx="202631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2. mtd_synth.py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5262" y="2229307"/>
            <a:ext cx="2026310" cy="32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B8A82"/>
                </a:solidFill>
                <a:latin typeface="Calibri"/>
              </a:rPr>
              <a:t>análogo TIR/MTD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57292" y="214884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1884" y="1645920"/>
            <a:ext cx="2117750" cy="100584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7604" y="1927555"/>
            <a:ext cx="202631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3. cross_site.py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7604" y="2229307"/>
            <a:ext cx="2026310" cy="32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1B8A82"/>
                </a:solidFill>
                <a:latin typeface="Calibri"/>
              </a:rPr>
              <a:t>4 sitios, 80 ép.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9635" y="214884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04227" y="1645920"/>
            <a:ext cx="2117750" cy="100584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9947" y="1927555"/>
            <a:ext cx="202631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4. predict.py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9947" y="2229307"/>
            <a:ext cx="2026310" cy="32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D95926"/>
                </a:solidFill>
                <a:latin typeface="Calibri"/>
              </a:rPr>
              <a:t>31 187 clips test/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1977" y="214884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86569" y="1645920"/>
            <a:ext cx="2117750" cy="100584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32289" y="1927555"/>
            <a:ext cx="202631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5. analyze_results.py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2289" y="2229307"/>
            <a:ext cx="2026310" cy="321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D95926"/>
                </a:solidFill>
                <a:latin typeface="Calibri"/>
              </a:rPr>
              <a:t>consolidación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803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718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CACHE DE ESPECTROGRAMAS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291840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A2E34"/>
                </a:solidFill>
                <a:latin typeface="Calibri"/>
              </a:rPr>
              <a:t>62 191 mel-specs, 344 ms/archivo con librosa → cache .npy obligatorio (16 workers, ~22 min)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28803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9718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10 ARMS + 4 SITIOS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291840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A2E34"/>
                </a:solidFill>
                <a:latin typeface="Calibri"/>
              </a:rPr>
              <a:t>14 entrenamientos completos de 80 épocas, mismo split/seed 42, sin early stopping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88036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29718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REPRODUCIBILIDAD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291840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A2E34"/>
                </a:solidFill>
                <a:latin typeface="Calibri"/>
              </a:rPr>
              <a:t>snapshot por época, cudnn determinista — época 1 idéntica entre corridas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7200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663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GPU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983480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A2E34"/>
                </a:solidFill>
                <a:latin typeface="Calibri"/>
              </a:rPr>
              <a:t>RTX PRO 4000 Blackwell, 16 GB — el modelo de 53M usa ~2-4 GB, ~90-300 s/época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51960" y="457200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663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ENTORNO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983480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A2E34"/>
                </a:solidFill>
                <a:latin typeface="Calibri"/>
              </a:rPr>
              <a:t>Python 3.12, torch 2.14+cu130, librosa, openTSNE, torchvision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572000"/>
            <a:ext cx="3657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466344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EJECUCIÓN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983480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A2E34"/>
                </a:solidFill>
                <a:latin typeface="Calibri"/>
              </a:rPr>
              <a:t>corrió de punta a punta sin intervención — de madrugada a la noche siguiente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RESULTADOS · 1/6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10 arms, mismo split y semilla, 80 épocas cada uno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Mejor checkpoint por mAP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1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/>
                <a:gridCol w="1514035"/>
                <a:gridCol w="1405890"/>
                <a:gridCol w="1730326"/>
                <a:gridCol w="1514035"/>
                <a:gridCol w="1514035"/>
                <a:gridCol w="973308"/>
              </a:tblGrid>
              <a:tr h="24938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Resample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global_acc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ép.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TResNet-LA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53.1M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90.28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87.34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97.15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TResNet-L (sin SE)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51.8M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89.54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85.90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97.08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TResNet-LA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MSW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53.1M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88.42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86.79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96.53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TResNet-LA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UABOS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53.1M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88.41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86.10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96.21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ResNet50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23.6M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89.93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89.23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96.62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ResNet50-A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24.3M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89.49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89.16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96.55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TResNet-M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40.3M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90.26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89.26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96.61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TResNet-MA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41.3M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90.27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88.45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96.50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249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TResNet-L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MSW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51.8M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90.52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88.83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96.68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24939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TResNet-L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UABOS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51.8M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87.52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85.42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96.40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A2E3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348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4489703"/>
            <a:ext cx="3511296" cy="477773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B8A82"/>
                </a:solidFill>
                <a:latin typeface="Calibri"/>
              </a:rPr>
              <a:t>97.15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938674"/>
            <a:ext cx="35112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A2E34"/>
                </a:solidFill>
                <a:latin typeface="Calibri"/>
              </a:rPr>
              <a:t>mejor mAP — TResNet-LA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4348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4489703"/>
            <a:ext cx="3511296" cy="477773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A78D6"/>
                </a:solidFill>
                <a:latin typeface="Calibri"/>
              </a:rPr>
              <a:t>89.23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4938674"/>
            <a:ext cx="35112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A2E34"/>
                </a:solidFill>
                <a:latin typeface="Calibri"/>
              </a:rPr>
              <a:t>mejor F1 — ResNet50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43484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4489703"/>
            <a:ext cx="3511296" cy="477773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95926"/>
                </a:solidFill>
                <a:latin typeface="Calibri"/>
              </a:rPr>
              <a:t>90.52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2" y="4938674"/>
            <a:ext cx="35112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2A2E34"/>
                </a:solidFill>
                <a:latin typeface="Calibri"/>
              </a:rPr>
              <a:t>mejor global_acc — TResNet-L+MSW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57200" y="5440680"/>
          <a:ext cx="11247120" cy="1280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RESULTADOS · 2/6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Ablación del SE: solo ayuda en el backbone grande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Mismo split/semilla/hiperparámetros — única diferencia: use_se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63093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64592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645920"/>
            <a:ext cx="54864" cy="1188720"/>
          </a:xfrm>
          <a:prstGeom prst="rect">
            <a:avLst/>
          </a:prstGeom>
          <a:solidFill>
            <a:srgbClr val="1B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1" y="1719072"/>
            <a:ext cx="4462272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TResNet-L → TResNet-LA (53M params): SE mejora las 3 métricas (+0.74 acc / +1.44 F1 / +0.07 mAP).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97180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2971800"/>
            <a:ext cx="54864" cy="1188720"/>
          </a:xfrm>
          <a:prstGeom prst="rect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1" y="3044952"/>
            <a:ext cx="4462272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ResNet50→-A y TResNet-M→-MA (24-40M): el SE no ayuda o empeora (hasta −0.81 F1).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34340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A2E34"/>
                </a:solidFill>
                <a:latin typeface="Calibri"/>
              </a:rPr>
              <a:t>Matiza al paper: ahí el SE “consistentemente” mejora. Acá el beneficio depende de la capacidad del backbone.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RESULTADOS · 3/6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Resampling: ayuda al modelo débil, no al fuerte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Replica un hallazgo textual del paper (Sección 5.4), en un dominio distinto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630936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645920"/>
            <a:ext cx="4754880" cy="1188720"/>
          </a:xfrm>
          <a:prstGeom prst="roundRect">
            <a:avLst>
              <a:gd name="adj" fmla="val 8000"/>
            </a:avLst>
          </a:prstGeom>
          <a:solidFill>
            <a:srgbClr val="EE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645920"/>
            <a:ext cx="54864" cy="1188720"/>
          </a:xfrm>
          <a:prstGeom prst="rect">
            <a:avLst/>
          </a:prstGeom>
          <a:solidFill>
            <a:srgbClr val="6B7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1" y="1719072"/>
            <a:ext cx="4462272" cy="10424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1">
                <a:solidFill>
                  <a:srgbClr val="2A2E34"/>
                </a:solidFill>
                <a:latin typeface="Calibri"/>
              </a:rPr>
              <a:t>“El modelo TResNet-L es menos capaz de extraer features discriminativas... el resampling da beneficios medibles a pesar de sus limitaciones” — Sección 5.4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971800"/>
            <a:ext cx="4754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30632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BALANCE DEL DATASET (EC. 1-10 → TABLA 3)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114032" y="3383280"/>
          <a:ext cx="44805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28016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LP_MeanIR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LP_CVIR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train (80%)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4650.7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+ MSW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1913.5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+ UABOS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258.7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A2E34"/>
                          </a:solidFill>
                          <a:latin typeface="Calibri"/>
                        </a:rPr>
                        <a:t>0.26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846320"/>
            <a:ext cx="6309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A2E34"/>
                </a:solidFill>
                <a:latin typeface="Calibri"/>
              </a:rPr>
              <a:t>Conclusión: el resampling empeora a TResNet-LA (modelo fuerte) pero mejora a TResNet-L (modelo débil) — mismo patrón que el paper, en dominio y escala distinta (42 clases vs 3, 53M vs 15M params). MSW supera a UABOS en ambos backbones, igual que en el paper.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RESULTADOS · 4/6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Análogo MTD/TIR: mezclas sintéticas a razón controlada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Algoritmo 1 adaptado — inferencia pura con el checkpoint de TResNet-LA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DCE9F9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2596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Target: 12 886 clips 1-especie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45536" y="210312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10128" y="164592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993392"/>
            <a:ext cx="2596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+ Interferencia: 22 504 clips vacíos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8464" y="210312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63056" y="164592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8776" y="1993392"/>
            <a:ext cx="2596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Mix a TIR controlado (dB)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51392" y="2103120"/>
            <a:ext cx="164592" cy="0"/>
          </a:xfrm>
          <a:prstGeom prst="line">
            <a:avLst/>
          </a:prstGeom>
          <a:ln w="19050">
            <a:solidFill>
              <a:srgbClr val="C7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15984" y="1645920"/>
            <a:ext cx="2688336" cy="91440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 w="9525">
            <a:solidFill>
              <a:srgbClr val="1B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1993392"/>
            <a:ext cx="2596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A1E24"/>
                </a:solidFill>
                <a:latin typeface="Calibri"/>
              </a:rPr>
              <a:t>Inferencia con checkpoint arm 1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78892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608076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27A"/>
                </a:solidFill>
                <a:latin typeface="Calibri"/>
              </a:rPr>
              <a:t>Desempeño vs. TIR (dB)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172200" y="278892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72200" y="6080760"/>
            <a:ext cx="5532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727A"/>
                </a:solidFill>
                <a:latin typeface="Calibri"/>
              </a:rPr>
              <a:t>Desempeño vs. nº de especies mezcladas (k)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RESULTADOS · 5/6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Generalización cross-sitio: el colapso honesto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Leave-one-site-out × 4 — análogo al Apéndice D (DeepShip) del paper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112471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949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54864" cy="1051560"/>
          </a:xfrm>
          <a:prstGeom prst="rect">
            <a:avLst/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5468112"/>
            <a:ext cx="10954512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mAP 97→17 en promedio (F1→1.55) en el sitio nunca visto. El modelo aprende ruido de fondo del sitio, no solo el canto — no está listo para desplegarse en un sitio nuevo sin reentrenar.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A78D6"/>
                </a:solidFill>
                <a:latin typeface="Calibri"/>
              </a:rPr>
              <a:t>RESULTADOS · 6/6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5603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B727A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E24"/>
                </a:solidFill>
                <a:latin typeface="Calibri"/>
              </a:rPr>
              <a:t>Umbral, errores y comparación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7A"/>
                </a:solidFill>
                <a:latin typeface="Calibri"/>
              </a:rPr>
              <a:t>σ=0.8 del paper resulta casi óptimo — y mejoramos las 3 métricas frente a la primera iteración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54864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72200" y="1645920"/>
          <a:ext cx="5532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232"/>
                <a:gridCol w="2028444"/>
                <a:gridCol w="2028444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Primera iteración (15M)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Versión final (53M)</a:t>
                      </a:r>
                    </a:p>
                  </a:txBody>
                  <a:tcPr marT="20000" marB="20000">
                    <a:solidFill>
                      <a:srgbClr val="2A78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global_acc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88.76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90.28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94.81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97.15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85.72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87.34</a:t>
                      </a:r>
                    </a:p>
                  </a:txBody>
                  <a:tcPr marT="16000" marB="16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NaN (bug)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A2E34"/>
                          </a:solidFill>
                          <a:latin typeface="Calibri"/>
                        </a:rPr>
                        <a:t>0.14</a:t>
                      </a:r>
                    </a:p>
                  </a:txBody>
                  <a:tcPr marT="16000" marB="16000"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72200" y="3429000"/>
            <a:ext cx="5532120" cy="914400"/>
          </a:xfrm>
          <a:prstGeom prst="roundRect">
            <a:avLst>
              <a:gd name="adj" fmla="val 8000"/>
            </a:avLst>
          </a:prstGeom>
          <a:solidFill>
            <a:srgbClr val="D8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429000"/>
            <a:ext cx="54864" cy="914400"/>
          </a:xfrm>
          <a:prstGeom prst="rect">
            <a:avLst/>
          </a:prstGeom>
          <a:solidFill>
            <a:srgbClr val="1B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3502152"/>
            <a:ext cx="5239512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2A2E34"/>
                </a:solidFill>
                <a:latin typeface="Calibri"/>
              </a:rPr>
              <a:t>Peor F1 por soporte mínimo (LEPFLA n=1, RHIORN n=4) — ruido estadístico. Más errores absolutos en las clases más comunes (SPHSUR, BOABIS) — efecto de volumen, no peor reconocimiento relativo.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480560"/>
            <a:ext cx="55321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7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572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Calibri"/>
              </a:rPr>
              <a:t>TOP ERRORES ABSOLUTOS (20% VAL)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4892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02A2A"/>
                </a:solidFill>
                <a:latin typeface="Calibri"/>
              </a:rPr>
              <a:t>Falsos positivos: LEPLAT (80), BOABIS (77), SPHSUR (55), PHYALB (43), DENNAN (35)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53492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D95926"/>
                </a:solidFill>
                <a:latin typeface="Calibri"/>
              </a:rPr>
              <a:t>Falsos negativos: SPHSUR (77), BOABIS (73), LEPLAT (70), DENMIN (61), PHYALB (60)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5806440"/>
            <a:ext cx="5212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B727A"/>
                </a:solidFill>
                <a:latin typeface="Calibri"/>
              </a:rPr>
              <a:t>Mismas 4-5 especies en ambas listas: son las más comunes del dataset, no las peor reconocidas proporcionalmente.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